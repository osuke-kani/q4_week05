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72" r:id="rId5"/>
    <p:sldId id="273" r:id="rId6"/>
    <p:sldId id="274" r:id="rId7"/>
    <p:sldId id="275" r:id="rId8"/>
    <p:sldId id="276" r:id="rId9"/>
    <p:sldId id="277" r:id="rId10"/>
    <p:sldId id="278" r:id="rId11"/>
    <p:sldId id="266"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828" y="5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0051EA-D17C-F98F-870B-7E326C87476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B8479F7-B40B-3285-9799-AE7F6EFF5B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02C1186-146E-128A-3E4E-35E9CB3F070B}"/>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5" name="フッター プレースホルダー 4">
            <a:extLst>
              <a:ext uri="{FF2B5EF4-FFF2-40B4-BE49-F238E27FC236}">
                <a16:creationId xmlns:a16="http://schemas.microsoft.com/office/drawing/2014/main" id="{8AD3676E-0C53-1A9E-D308-87264B794DD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AB6FA2-5140-CF75-460F-95645DBA3290}"/>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198926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379165-5966-2048-3339-121E0871B7E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ADB109C-BC64-58C9-560E-CE9144FF15C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E969F2-B7CB-C6C5-F811-64DEB12E4E36}"/>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5" name="フッター プレースホルダー 4">
            <a:extLst>
              <a:ext uri="{FF2B5EF4-FFF2-40B4-BE49-F238E27FC236}">
                <a16:creationId xmlns:a16="http://schemas.microsoft.com/office/drawing/2014/main" id="{8D983F17-E050-F900-AC6A-B142FA1128C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ACAF70-C2B5-F907-5A45-185FA67C6B8A}"/>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44352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03A29-5B90-31EB-4187-F636429C3EA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C41AEDE-B5EB-8C79-F719-498AFA48CD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184B75B-8507-16EC-8F41-EDCA877A8EEA}"/>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5" name="フッター プレースホルダー 4">
            <a:extLst>
              <a:ext uri="{FF2B5EF4-FFF2-40B4-BE49-F238E27FC236}">
                <a16:creationId xmlns:a16="http://schemas.microsoft.com/office/drawing/2014/main" id="{F5477D34-0490-AB7C-4CAD-3F0C1553824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F07AEA-B4FC-C52E-9B4E-730B5971EE46}"/>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3420606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D86177-CA4F-E856-DA8E-488C2DB6291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59E31D-D665-50E9-DC3C-3531E48A775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EBBC4B0-EFB1-95A6-0CB7-4487E2E9ACA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E1EB76C-D440-1C60-A9F7-43C759D01407}"/>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6" name="フッター プレースホルダー 5">
            <a:extLst>
              <a:ext uri="{FF2B5EF4-FFF2-40B4-BE49-F238E27FC236}">
                <a16:creationId xmlns:a16="http://schemas.microsoft.com/office/drawing/2014/main" id="{EC5E7BB4-E68A-70A7-4B49-5F4FC484C30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24736F8-CF48-8DC5-7687-C712DC1CC8C9}"/>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3572929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E94445-BA23-E0C8-9C24-2C0DB95CAED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31DA1B1-25B1-B5FE-A23C-28015B39A5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2C3E721-7CAF-B3DF-A996-B45914F8E78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B13CDCD-F265-49E3-54EC-61338881A7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4DC9FB9-918A-CF0C-BEBC-BF5C804DD52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D694591-9C9C-6A1C-3AE9-7147ABCA549A}"/>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8" name="フッター プレースホルダー 7">
            <a:extLst>
              <a:ext uri="{FF2B5EF4-FFF2-40B4-BE49-F238E27FC236}">
                <a16:creationId xmlns:a16="http://schemas.microsoft.com/office/drawing/2014/main" id="{CF993B93-B705-E849-BAC3-88020FECB28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0101A8-8CD5-E66B-88B8-FEE76629B639}"/>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3795686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FCF9DA-4DA4-D67F-BDA4-B9610827D09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0B383DD-3426-BE7E-DCA9-7FD2842E3CB1}"/>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4" name="フッター プレースホルダー 3">
            <a:extLst>
              <a:ext uri="{FF2B5EF4-FFF2-40B4-BE49-F238E27FC236}">
                <a16:creationId xmlns:a16="http://schemas.microsoft.com/office/drawing/2014/main" id="{5911AAA0-19D8-0366-EC41-0570E9C9CD0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C01C7DE-ADFA-CE48-F068-947FADD5F5C5}"/>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1823410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5E12FBC-02CA-B529-050F-9C6A870CC1D8}"/>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3" name="フッター プレースホルダー 2">
            <a:extLst>
              <a:ext uri="{FF2B5EF4-FFF2-40B4-BE49-F238E27FC236}">
                <a16:creationId xmlns:a16="http://schemas.microsoft.com/office/drawing/2014/main" id="{ED91AB44-9C6A-A654-5845-A7C5FBAADAF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DF629C-A5A2-E35D-117C-E8C90ED62860}"/>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2458047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564BDD-4295-7927-365F-3F0258D2B83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514335E-59BF-B833-1241-53708F25C3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FE30A32-79A1-7213-2C2C-5E1B5EF79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398A2D0-C45E-672B-3FE3-A7191AFC712B}"/>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6" name="フッター プレースホルダー 5">
            <a:extLst>
              <a:ext uri="{FF2B5EF4-FFF2-40B4-BE49-F238E27FC236}">
                <a16:creationId xmlns:a16="http://schemas.microsoft.com/office/drawing/2014/main" id="{8B229B1F-C854-5B74-4AE4-028787BE13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D19E74-7F0B-45E0-C51B-F86EF053925E}"/>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1146074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089430-3DC0-B3D8-C8FA-A6848AFDE1A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8C8DB1-CA20-9ECF-355E-7CDB0B1913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8AA1FF9-99A5-3F6E-D614-81EF50141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4EB4459-16FC-23F4-E130-DA6ADA526B58}"/>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6" name="フッター プレースホルダー 5">
            <a:extLst>
              <a:ext uri="{FF2B5EF4-FFF2-40B4-BE49-F238E27FC236}">
                <a16:creationId xmlns:a16="http://schemas.microsoft.com/office/drawing/2014/main" id="{B37CE074-6EA7-6114-73B9-B98AED6F4F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5733A3-50C3-F99A-5BEE-54A4455D9A0C}"/>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681569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64F1FD-CD9A-C0EE-0080-E37E94B7E9F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90F7C4D-1B4C-758C-A519-F65C888E89E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F51131-8DA6-7BA4-57F4-AD3756D2723F}"/>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5" name="フッター プレースホルダー 4">
            <a:extLst>
              <a:ext uri="{FF2B5EF4-FFF2-40B4-BE49-F238E27FC236}">
                <a16:creationId xmlns:a16="http://schemas.microsoft.com/office/drawing/2014/main" id="{BFE5CDE2-2C10-B137-2B33-15535E66622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CCA139-9E64-6AD6-CE94-6FF76E685FDF}"/>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12205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0918A5D-69ED-48F2-2866-4F043E5AF80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EEBC612-A92D-7248-E3A9-E730507DB3F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984DC2-6DD9-A9B4-7D8E-45EF820BD79C}"/>
              </a:ext>
            </a:extLst>
          </p:cNvPr>
          <p:cNvSpPr>
            <a:spLocks noGrp="1"/>
          </p:cNvSpPr>
          <p:nvPr>
            <p:ph type="dt" sz="half" idx="10"/>
          </p:nvPr>
        </p:nvSpPr>
        <p:spPr/>
        <p:txBody>
          <a:bodyPr/>
          <a:lstStyle/>
          <a:p>
            <a:fld id="{72C3516F-93FC-41DB-9F61-0CEF9EC6186F}" type="datetimeFigureOut">
              <a:rPr kumimoji="1" lang="ja-JP" altLang="en-US" smtClean="0"/>
              <a:t>2025/12/21</a:t>
            </a:fld>
            <a:endParaRPr kumimoji="1" lang="ja-JP" altLang="en-US"/>
          </a:p>
        </p:txBody>
      </p:sp>
      <p:sp>
        <p:nvSpPr>
          <p:cNvPr id="5" name="フッター プレースホルダー 4">
            <a:extLst>
              <a:ext uri="{FF2B5EF4-FFF2-40B4-BE49-F238E27FC236}">
                <a16:creationId xmlns:a16="http://schemas.microsoft.com/office/drawing/2014/main" id="{8F2EF2CF-521B-D033-6ACF-03623A789A1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4F8D22-093F-36FD-0D9D-E532964AE024}"/>
              </a:ext>
            </a:extLst>
          </p:cNvPr>
          <p:cNvSpPr>
            <a:spLocks noGrp="1"/>
          </p:cNvSpPr>
          <p:nvPr>
            <p:ph type="sldNum" sz="quarter" idx="12"/>
          </p:nvPr>
        </p:nvSpPr>
        <p:spPr/>
        <p:txBody>
          <a:body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3419397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69BB40D-A9FD-5FD4-A5E2-DF57DA869C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53401F-4000-C0AE-DB90-57A09D0A72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8CB610-7F14-E37F-5118-50C743EB4C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C3516F-93FC-41DB-9F61-0CEF9EC6186F}" type="datetimeFigureOut">
              <a:rPr kumimoji="1" lang="ja-JP" altLang="en-US" smtClean="0"/>
              <a:t>2025/12/21</a:t>
            </a:fld>
            <a:endParaRPr kumimoji="1" lang="ja-JP" altLang="en-US"/>
          </a:p>
        </p:txBody>
      </p:sp>
      <p:sp>
        <p:nvSpPr>
          <p:cNvPr id="5" name="フッター プレースホルダー 4">
            <a:extLst>
              <a:ext uri="{FF2B5EF4-FFF2-40B4-BE49-F238E27FC236}">
                <a16:creationId xmlns:a16="http://schemas.microsoft.com/office/drawing/2014/main" id="{3FBC509D-184B-EBA0-3FFA-9BD294FBCC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E3EFC97-35FB-B8E8-5EB5-ACC3C27C9F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C0AA42-A603-4B4A-BD6D-AFB6B80E5764}" type="slidenum">
              <a:rPr kumimoji="1" lang="ja-JP" altLang="en-US" smtClean="0"/>
              <a:t>‹#›</a:t>
            </a:fld>
            <a:endParaRPr kumimoji="1" lang="ja-JP" altLang="en-US"/>
          </a:p>
        </p:txBody>
      </p:sp>
    </p:spTree>
    <p:extLst>
      <p:ext uri="{BB962C8B-B14F-4D97-AF65-F5344CB8AC3E}">
        <p14:creationId xmlns:p14="http://schemas.microsoft.com/office/powerpoint/2010/main" val="2766597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psj.ixsq.nii.ac.jp/records/23599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EA03DC-6DCC-9FF6-23C3-5105CE85478F}"/>
              </a:ext>
            </a:extLst>
          </p:cNvPr>
          <p:cNvSpPr>
            <a:spLocks noGrp="1"/>
          </p:cNvSpPr>
          <p:nvPr>
            <p:ph type="ctrTitle"/>
          </p:nvPr>
        </p:nvSpPr>
        <p:spPr/>
        <p:txBody>
          <a:bodyPr/>
          <a:lstStyle/>
          <a:p>
            <a:r>
              <a:rPr kumimoji="1" lang="ja-JP" altLang="en-US" dirty="0"/>
              <a:t>宮沢研究室課題</a:t>
            </a:r>
          </a:p>
        </p:txBody>
      </p:sp>
      <p:sp>
        <p:nvSpPr>
          <p:cNvPr id="3" name="字幕 2">
            <a:extLst>
              <a:ext uri="{FF2B5EF4-FFF2-40B4-BE49-F238E27FC236}">
                <a16:creationId xmlns:a16="http://schemas.microsoft.com/office/drawing/2014/main" id="{71494869-449B-ABBA-DF5E-7C443DAECD3C}"/>
              </a:ext>
            </a:extLst>
          </p:cNvPr>
          <p:cNvSpPr>
            <a:spLocks noGrp="1"/>
          </p:cNvSpPr>
          <p:nvPr>
            <p:ph type="subTitle" idx="1"/>
          </p:nvPr>
        </p:nvSpPr>
        <p:spPr/>
        <p:txBody>
          <a:bodyPr/>
          <a:lstStyle/>
          <a:p>
            <a:r>
              <a:rPr kumimoji="1" lang="en-US" altLang="ja-JP" dirty="0"/>
              <a:t>2023TS023</a:t>
            </a:r>
          </a:p>
          <a:p>
            <a:r>
              <a:rPr lang="ja-JP" altLang="en-US" dirty="0"/>
              <a:t>可児桜将</a:t>
            </a:r>
            <a:endParaRPr lang="en-US" altLang="ja-JP" dirty="0"/>
          </a:p>
        </p:txBody>
      </p:sp>
    </p:spTree>
    <p:extLst>
      <p:ext uri="{BB962C8B-B14F-4D97-AF65-F5344CB8AC3E}">
        <p14:creationId xmlns:p14="http://schemas.microsoft.com/office/powerpoint/2010/main" val="3142243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E863A5-4971-01F7-DEB8-CEC964B7E53D}"/>
              </a:ext>
            </a:extLst>
          </p:cNvPr>
          <p:cNvSpPr>
            <a:spLocks noGrp="1"/>
          </p:cNvSpPr>
          <p:nvPr>
            <p:ph type="title"/>
          </p:nvPr>
        </p:nvSpPr>
        <p:spPr/>
        <p:txBody>
          <a:bodyPr/>
          <a:lstStyle/>
          <a:p>
            <a:r>
              <a:rPr lang="ja-JP" altLang="en-US" dirty="0"/>
              <a:t>今回読んだ文献について</a:t>
            </a:r>
            <a:endParaRPr kumimoji="1" lang="ja-JP" altLang="en-US" dirty="0"/>
          </a:p>
        </p:txBody>
      </p:sp>
      <p:sp>
        <p:nvSpPr>
          <p:cNvPr id="3" name="コンテンツ プレースホルダー 2">
            <a:extLst>
              <a:ext uri="{FF2B5EF4-FFF2-40B4-BE49-F238E27FC236}">
                <a16:creationId xmlns:a16="http://schemas.microsoft.com/office/drawing/2014/main" id="{7F5E4F84-1A90-A651-2D82-C396A62C2415}"/>
              </a:ext>
            </a:extLst>
          </p:cNvPr>
          <p:cNvSpPr>
            <a:spLocks noGrp="1"/>
          </p:cNvSpPr>
          <p:nvPr>
            <p:ph idx="1"/>
          </p:nvPr>
        </p:nvSpPr>
        <p:spPr/>
        <p:txBody>
          <a:bodyPr/>
          <a:lstStyle/>
          <a:p>
            <a:pPr marL="0" indent="0">
              <a:buNone/>
            </a:pPr>
            <a:r>
              <a:rPr kumimoji="1" lang="ja-JP" altLang="en-US" dirty="0"/>
              <a:t>「ターン制戦略ゲームにおける見方</a:t>
            </a:r>
            <a:r>
              <a:rPr kumimoji="1" lang="en-US" altLang="ja-JP" dirty="0"/>
              <a:t>NPC</a:t>
            </a:r>
            <a:r>
              <a:rPr kumimoji="1" lang="ja-JP" altLang="en-US" dirty="0"/>
              <a:t>の戦術生成による立ち振る舞いの違い」</a:t>
            </a:r>
            <a:endParaRPr kumimoji="1" lang="en-US" altLang="ja-JP" dirty="0"/>
          </a:p>
          <a:p>
            <a:pPr marL="0" indent="0">
              <a:buNone/>
            </a:pPr>
            <a:r>
              <a:rPr lang="zh-TW" altLang="en-US" dirty="0">
                <a:hlinkClick r:id="rId2"/>
              </a:rPr>
              <a:t>情報学広場：情報処理学会電子図書館</a:t>
            </a:r>
            <a:endParaRPr kumimoji="1" lang="en-US" altLang="ja-JP" dirty="0"/>
          </a:p>
          <a:p>
            <a:pPr marL="0" indent="0">
              <a:buNone/>
            </a:pPr>
            <a:r>
              <a:rPr kumimoji="1" lang="ja-JP" altLang="en-US" dirty="0"/>
              <a:t>著</a:t>
            </a:r>
            <a:r>
              <a:rPr kumimoji="1" lang="en-US" altLang="ja-JP" dirty="0"/>
              <a:t>:</a:t>
            </a:r>
            <a:r>
              <a:rPr kumimoji="1" lang="ja-JP" altLang="en-US" dirty="0"/>
              <a:t>野戸 彰大</a:t>
            </a:r>
            <a:r>
              <a:rPr lang="ja-JP" altLang="en-US" dirty="0"/>
              <a:t>氏、今井 敏行氏</a:t>
            </a:r>
            <a:endParaRPr kumimoji="1" lang="en-US" altLang="ja-JP" dirty="0"/>
          </a:p>
          <a:p>
            <a:pPr marL="0" indent="0">
              <a:buNone/>
            </a:pPr>
            <a:r>
              <a:rPr lang="en-US" altLang="ja-JP" dirty="0"/>
              <a:t>2024/3/1</a:t>
            </a:r>
          </a:p>
          <a:p>
            <a:pPr marL="0" indent="0">
              <a:buNone/>
            </a:pPr>
            <a:r>
              <a:rPr kumimoji="1" lang="ja-JP" altLang="en-US" dirty="0"/>
              <a:t>掲載媒体</a:t>
            </a:r>
            <a:r>
              <a:rPr kumimoji="1" lang="en-US" altLang="ja-JP" dirty="0"/>
              <a:t>:</a:t>
            </a:r>
            <a:r>
              <a:rPr lang="zh-TW" altLang="en-US" dirty="0"/>
              <a:t>情報処理学会 電子図書館</a:t>
            </a:r>
            <a:r>
              <a:rPr lang="en-US" altLang="zh-TW" dirty="0"/>
              <a:t>:https://ipsj.ixsq.nii.ac.jp/</a:t>
            </a:r>
            <a:r>
              <a:rPr lang="en-US" altLang="zh-TW" dirty="0" err="1"/>
              <a:t>ej</a:t>
            </a:r>
            <a:r>
              <a:rPr lang="en-US" altLang="zh-TW" dirty="0"/>
              <a:t>/</a:t>
            </a:r>
            <a:endParaRPr kumimoji="1" lang="ja-JP" altLang="en-US" dirty="0"/>
          </a:p>
        </p:txBody>
      </p:sp>
    </p:spTree>
    <p:extLst>
      <p:ext uri="{BB962C8B-B14F-4D97-AF65-F5344CB8AC3E}">
        <p14:creationId xmlns:p14="http://schemas.microsoft.com/office/powerpoint/2010/main" val="2743717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86A6E5-1962-1C6E-AC63-F351DD00CC4F}"/>
              </a:ext>
            </a:extLst>
          </p:cNvPr>
          <p:cNvSpPr>
            <a:spLocks noGrp="1"/>
          </p:cNvSpPr>
          <p:nvPr>
            <p:ph type="title"/>
          </p:nvPr>
        </p:nvSpPr>
        <p:spPr/>
        <p:txBody>
          <a:bodyPr/>
          <a:lstStyle/>
          <a:p>
            <a:r>
              <a:rPr lang="ja-JP" altLang="en-US" dirty="0"/>
              <a:t>研究背景</a:t>
            </a:r>
            <a:endParaRPr kumimoji="1" lang="ja-JP" altLang="en-US" dirty="0"/>
          </a:p>
        </p:txBody>
      </p:sp>
      <p:sp>
        <p:nvSpPr>
          <p:cNvPr id="3" name="コンテンツ プレースホルダー 2">
            <a:extLst>
              <a:ext uri="{FF2B5EF4-FFF2-40B4-BE49-F238E27FC236}">
                <a16:creationId xmlns:a16="http://schemas.microsoft.com/office/drawing/2014/main" id="{0720DFFE-D9B0-59F4-47E7-05B1B48110FC}"/>
              </a:ext>
            </a:extLst>
          </p:cNvPr>
          <p:cNvSpPr>
            <a:spLocks noGrp="1"/>
          </p:cNvSpPr>
          <p:nvPr>
            <p:ph idx="1"/>
          </p:nvPr>
        </p:nvSpPr>
        <p:spPr>
          <a:xfrm>
            <a:off x="838200" y="1690688"/>
            <a:ext cx="10515600" cy="4351338"/>
          </a:xfrm>
        </p:spPr>
        <p:txBody>
          <a:bodyPr/>
          <a:lstStyle/>
          <a:p>
            <a:pPr marL="0" indent="0">
              <a:buNone/>
            </a:pPr>
            <a:r>
              <a:rPr kumimoji="1" lang="ja-JP" altLang="en-US" dirty="0"/>
              <a:t>・近年はゲーム</a:t>
            </a:r>
            <a:r>
              <a:rPr kumimoji="1" lang="en-US" altLang="ja-JP" dirty="0"/>
              <a:t>AI</a:t>
            </a:r>
            <a:r>
              <a:rPr kumimoji="1" lang="ja-JP" altLang="en-US" dirty="0"/>
              <a:t>が高度化している</a:t>
            </a:r>
            <a:endParaRPr kumimoji="1" lang="en-US" altLang="ja-JP" dirty="0"/>
          </a:p>
          <a:p>
            <a:pPr marL="0" indent="0">
              <a:buNone/>
            </a:pPr>
            <a:endParaRPr lang="en-US" altLang="ja-JP" dirty="0"/>
          </a:p>
          <a:p>
            <a:pPr marL="0" indent="0">
              <a:buNone/>
            </a:pPr>
            <a:r>
              <a:rPr lang="ja-JP" altLang="en-US" dirty="0"/>
              <a:t>・敵</a:t>
            </a:r>
            <a:r>
              <a:rPr lang="en-US" altLang="ja-JP" dirty="0"/>
              <a:t>AI</a:t>
            </a:r>
            <a:r>
              <a:rPr lang="ja-JP" altLang="en-US" dirty="0"/>
              <a:t>の研究は多いが味方</a:t>
            </a:r>
            <a:r>
              <a:rPr lang="en-US" altLang="ja-JP" dirty="0"/>
              <a:t>NPC</a:t>
            </a:r>
            <a:r>
              <a:rPr lang="ja-JP" altLang="en-US" dirty="0"/>
              <a:t>（友軍）の研究は少ない</a:t>
            </a:r>
            <a:endParaRPr lang="en-US" altLang="ja-JP" dirty="0"/>
          </a:p>
          <a:p>
            <a:pPr marL="0" indent="0">
              <a:buNone/>
            </a:pPr>
            <a:endParaRPr kumimoji="1" lang="en-US" altLang="ja-JP" dirty="0"/>
          </a:p>
          <a:p>
            <a:pPr marL="0" indent="0">
              <a:buNone/>
            </a:pPr>
            <a:r>
              <a:rPr kumimoji="1" lang="ja-JP" altLang="en-US" dirty="0"/>
              <a:t>・市販ターン制戦略ゲームでは「味方</a:t>
            </a:r>
            <a:r>
              <a:rPr kumimoji="1" lang="en-US" altLang="ja-JP" dirty="0"/>
              <a:t>NPC</a:t>
            </a:r>
            <a:r>
              <a:rPr kumimoji="1" lang="ja-JP" altLang="en-US" dirty="0"/>
              <a:t>が役に立たない」という不満が多い</a:t>
            </a:r>
            <a:endParaRPr kumimoji="1" lang="en-US" altLang="ja-JP" dirty="0"/>
          </a:p>
          <a:p>
            <a:pPr marL="0" indent="0">
              <a:buNone/>
            </a:pPr>
            <a:endParaRPr lang="en-US" altLang="ja-JP" dirty="0"/>
          </a:p>
          <a:p>
            <a:pPr marL="0" indent="0">
              <a:buNone/>
            </a:pPr>
            <a:r>
              <a:rPr lang="ja-JP" altLang="en-US" dirty="0"/>
              <a:t>・特に戦術的判断がプレイヤーの意図と合わない</a:t>
            </a:r>
            <a:endParaRPr kumimoji="1" lang="ja-JP" altLang="en-US" dirty="0"/>
          </a:p>
        </p:txBody>
      </p:sp>
    </p:spTree>
    <p:extLst>
      <p:ext uri="{BB962C8B-B14F-4D97-AF65-F5344CB8AC3E}">
        <p14:creationId xmlns:p14="http://schemas.microsoft.com/office/powerpoint/2010/main" val="1357355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0E3160-DD0C-D6D4-8D96-C001A019BCA4}"/>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6FEF4B6E-E1A4-BFF6-BF5D-637E91686792}"/>
              </a:ext>
            </a:extLst>
          </p:cNvPr>
          <p:cNvSpPr>
            <a:spLocks noGrp="1"/>
          </p:cNvSpPr>
          <p:nvPr>
            <p:ph idx="1"/>
          </p:nvPr>
        </p:nvSpPr>
        <p:spPr/>
        <p:txBody>
          <a:bodyPr/>
          <a:lstStyle/>
          <a:p>
            <a:pPr marL="0" indent="0">
              <a:buNone/>
            </a:pPr>
            <a:r>
              <a:rPr lang="ja-JP" altLang="en-US" dirty="0"/>
              <a:t>・ターン制戦略ゲームにおいて味方</a:t>
            </a:r>
            <a:r>
              <a:rPr lang="en-US" altLang="ja-JP" dirty="0"/>
              <a:t>NPC</a:t>
            </a:r>
            <a:r>
              <a:rPr lang="ja-JP" altLang="en-US" dirty="0"/>
              <a:t>の戦術生成方法が行動に与える影響を検証</a:t>
            </a:r>
            <a:endParaRPr lang="en-US" altLang="ja-JP" dirty="0"/>
          </a:p>
          <a:p>
            <a:pPr marL="0" indent="0">
              <a:buNone/>
            </a:pPr>
            <a:endParaRPr lang="en-US" altLang="ja-JP" dirty="0"/>
          </a:p>
          <a:p>
            <a:pPr marL="0" indent="0">
              <a:buNone/>
            </a:pPr>
            <a:r>
              <a:rPr lang="ja-JP" altLang="en-US" dirty="0"/>
              <a:t>・既存の戦術アルゴリズムを味方</a:t>
            </a:r>
            <a:r>
              <a:rPr lang="en-US" altLang="ja-JP" dirty="0"/>
              <a:t>NPC</a:t>
            </a:r>
            <a:r>
              <a:rPr lang="ja-JP" altLang="en-US" dirty="0"/>
              <a:t>に適用した場合の有効性を評価</a:t>
            </a:r>
            <a:endParaRPr lang="en-US" altLang="ja-JP" dirty="0"/>
          </a:p>
          <a:p>
            <a:pPr marL="0" indent="0">
              <a:buNone/>
            </a:pPr>
            <a:endParaRPr lang="en-US" altLang="ja-JP" dirty="0"/>
          </a:p>
          <a:p>
            <a:pPr marL="0" indent="0">
              <a:buNone/>
            </a:pPr>
            <a:r>
              <a:rPr lang="ja-JP" altLang="en-US" dirty="0"/>
              <a:t>・「強い味方</a:t>
            </a:r>
            <a:r>
              <a:rPr lang="en-US" altLang="ja-JP" dirty="0"/>
              <a:t>NPC</a:t>
            </a:r>
            <a:r>
              <a:rPr lang="ja-JP" altLang="en-US" dirty="0"/>
              <a:t>」を実現する手法を探る</a:t>
            </a:r>
            <a:endParaRPr lang="en-US" altLang="ja-JP" dirty="0"/>
          </a:p>
        </p:txBody>
      </p:sp>
    </p:spTree>
    <p:extLst>
      <p:ext uri="{BB962C8B-B14F-4D97-AF65-F5344CB8AC3E}">
        <p14:creationId xmlns:p14="http://schemas.microsoft.com/office/powerpoint/2010/main" val="1292363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284564-6EF0-12CE-271B-A2BC713B13FC}"/>
              </a:ext>
            </a:extLst>
          </p:cNvPr>
          <p:cNvSpPr>
            <a:spLocks noGrp="1"/>
          </p:cNvSpPr>
          <p:nvPr>
            <p:ph type="title"/>
          </p:nvPr>
        </p:nvSpPr>
        <p:spPr/>
        <p:txBody>
          <a:bodyPr/>
          <a:lstStyle/>
          <a:p>
            <a:r>
              <a:rPr kumimoji="1" lang="ja-JP" altLang="en-US" dirty="0"/>
              <a:t>ゲーム環境</a:t>
            </a:r>
          </a:p>
        </p:txBody>
      </p:sp>
      <p:sp>
        <p:nvSpPr>
          <p:cNvPr id="3" name="コンテンツ プレースホルダー 2">
            <a:extLst>
              <a:ext uri="{FF2B5EF4-FFF2-40B4-BE49-F238E27FC236}">
                <a16:creationId xmlns:a16="http://schemas.microsoft.com/office/drawing/2014/main" id="{8B60626D-046D-0221-CEBA-EE4894A4DA7D}"/>
              </a:ext>
            </a:extLst>
          </p:cNvPr>
          <p:cNvSpPr>
            <a:spLocks noGrp="1"/>
          </p:cNvSpPr>
          <p:nvPr>
            <p:ph idx="1"/>
          </p:nvPr>
        </p:nvSpPr>
        <p:spPr/>
        <p:txBody>
          <a:bodyPr>
            <a:normAutofit lnSpcReduction="10000"/>
          </a:bodyPr>
          <a:lstStyle/>
          <a:p>
            <a:pPr marL="0" indent="0">
              <a:buNone/>
            </a:pPr>
            <a:r>
              <a:rPr kumimoji="1" lang="ja-JP" altLang="en-US" dirty="0"/>
              <a:t>・独自に制作したターン制戦略ゲーム</a:t>
            </a:r>
            <a:endParaRPr kumimoji="1" lang="en-US" altLang="ja-JP" dirty="0"/>
          </a:p>
          <a:p>
            <a:pPr marL="0" indent="0">
              <a:buNone/>
            </a:pPr>
            <a:r>
              <a:rPr lang="ja-JP" altLang="en-US" dirty="0"/>
              <a:t>・マス目状ステージ</a:t>
            </a:r>
            <a:endParaRPr lang="en-US" altLang="ja-JP" dirty="0"/>
          </a:p>
          <a:p>
            <a:pPr marL="0" indent="0">
              <a:buNone/>
            </a:pPr>
            <a:r>
              <a:rPr kumimoji="1" lang="ja-JP" altLang="en-US" dirty="0"/>
              <a:t>　・移動コスト、通行不可マスあり</a:t>
            </a:r>
            <a:endParaRPr kumimoji="1" lang="en-US" altLang="ja-JP" dirty="0"/>
          </a:p>
          <a:p>
            <a:pPr marL="0" indent="0">
              <a:buNone/>
            </a:pPr>
            <a:r>
              <a:rPr lang="ja-JP" altLang="en-US" dirty="0"/>
              <a:t>・駒は</a:t>
            </a:r>
            <a:r>
              <a:rPr lang="en-US" altLang="ja-JP" dirty="0"/>
              <a:t>4</a:t>
            </a:r>
            <a:r>
              <a:rPr lang="ja-JP" altLang="en-US" dirty="0"/>
              <a:t>種類</a:t>
            </a:r>
            <a:endParaRPr lang="en-US" altLang="ja-JP" dirty="0"/>
          </a:p>
          <a:p>
            <a:pPr marL="0" indent="0">
              <a:buNone/>
            </a:pPr>
            <a:r>
              <a:rPr kumimoji="1" lang="ja-JP" altLang="en-US" dirty="0"/>
              <a:t>　・攻撃範囲、移動能力が異なる</a:t>
            </a:r>
            <a:endParaRPr kumimoji="1" lang="en-US" altLang="ja-JP" dirty="0"/>
          </a:p>
          <a:p>
            <a:pPr marL="0" indent="0">
              <a:buNone/>
            </a:pPr>
            <a:r>
              <a:rPr kumimoji="1" lang="ja-JP" altLang="en-US" dirty="0"/>
              <a:t>・３勢力構成</a:t>
            </a:r>
            <a:endParaRPr kumimoji="1" lang="en-US" altLang="ja-JP" dirty="0"/>
          </a:p>
          <a:p>
            <a:pPr marL="0" indent="0">
              <a:buNone/>
            </a:pPr>
            <a:r>
              <a:rPr lang="ja-JP" altLang="en-US" dirty="0"/>
              <a:t>　・自軍（プレイヤー）</a:t>
            </a:r>
            <a:endParaRPr lang="en-US" altLang="ja-JP" dirty="0"/>
          </a:p>
          <a:p>
            <a:pPr marL="0" indent="0">
              <a:buNone/>
            </a:pPr>
            <a:r>
              <a:rPr kumimoji="1" lang="ja-JP" altLang="en-US" dirty="0"/>
              <a:t>　・敵軍（</a:t>
            </a:r>
            <a:r>
              <a:rPr kumimoji="1" lang="en-US" altLang="ja-JP" dirty="0"/>
              <a:t>NPC</a:t>
            </a:r>
            <a:r>
              <a:rPr kumimoji="1" lang="ja-JP" altLang="en-US" dirty="0"/>
              <a:t>）</a:t>
            </a:r>
            <a:endParaRPr kumimoji="1" lang="en-US" altLang="ja-JP" dirty="0"/>
          </a:p>
          <a:p>
            <a:pPr marL="0" indent="0">
              <a:buNone/>
            </a:pPr>
            <a:r>
              <a:rPr lang="ja-JP" altLang="en-US" dirty="0"/>
              <a:t>　・友軍（味方</a:t>
            </a:r>
            <a:r>
              <a:rPr lang="en-US" altLang="ja-JP" dirty="0"/>
              <a:t>NPC</a:t>
            </a:r>
            <a:r>
              <a:rPr lang="ja-JP" altLang="en-US" dirty="0"/>
              <a:t>）</a:t>
            </a:r>
            <a:endParaRPr kumimoji="1" lang="ja-JP" altLang="en-US" dirty="0"/>
          </a:p>
        </p:txBody>
      </p:sp>
    </p:spTree>
    <p:extLst>
      <p:ext uri="{BB962C8B-B14F-4D97-AF65-F5344CB8AC3E}">
        <p14:creationId xmlns:p14="http://schemas.microsoft.com/office/powerpoint/2010/main" val="3539919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517F37-4312-B338-2B46-8F6F0AC2FD86}"/>
              </a:ext>
            </a:extLst>
          </p:cNvPr>
          <p:cNvSpPr>
            <a:spLocks noGrp="1"/>
          </p:cNvSpPr>
          <p:nvPr>
            <p:ph type="title"/>
          </p:nvPr>
        </p:nvSpPr>
        <p:spPr/>
        <p:txBody>
          <a:bodyPr/>
          <a:lstStyle/>
          <a:p>
            <a:r>
              <a:rPr kumimoji="1" lang="ja-JP" altLang="en-US" dirty="0"/>
              <a:t>実験方法</a:t>
            </a:r>
          </a:p>
        </p:txBody>
      </p:sp>
      <p:sp>
        <p:nvSpPr>
          <p:cNvPr id="3" name="コンテンツ プレースホルダー 2">
            <a:extLst>
              <a:ext uri="{FF2B5EF4-FFF2-40B4-BE49-F238E27FC236}">
                <a16:creationId xmlns:a16="http://schemas.microsoft.com/office/drawing/2014/main" id="{84A2F386-24AA-3A82-BC98-46E52235B46E}"/>
              </a:ext>
            </a:extLst>
          </p:cNvPr>
          <p:cNvSpPr>
            <a:spLocks noGrp="1"/>
          </p:cNvSpPr>
          <p:nvPr>
            <p:ph idx="1"/>
          </p:nvPr>
        </p:nvSpPr>
        <p:spPr/>
        <p:txBody>
          <a:bodyPr/>
          <a:lstStyle/>
          <a:p>
            <a:r>
              <a:rPr lang="ja-JP" altLang="en-US" dirty="0"/>
              <a:t>市販ゲームで不満が多かったステージをもとに実験用マップを作成</a:t>
            </a:r>
            <a:endParaRPr lang="en-US" altLang="ja-JP" dirty="0"/>
          </a:p>
          <a:p>
            <a:r>
              <a:rPr lang="ja-JP" altLang="en-US" dirty="0"/>
              <a:t>実験条件（各１００試合）</a:t>
            </a:r>
            <a:endParaRPr lang="en-US" altLang="ja-JP" dirty="0"/>
          </a:p>
          <a:p>
            <a:pPr marL="0" indent="0">
              <a:buNone/>
            </a:pPr>
            <a:r>
              <a:rPr lang="ja-JP" altLang="en-US" dirty="0"/>
              <a:t>　　</a:t>
            </a:r>
            <a:r>
              <a:rPr lang="en-US" altLang="ja-JP" dirty="0"/>
              <a:t>1.</a:t>
            </a:r>
            <a:r>
              <a:rPr lang="ja-JP" altLang="en-US" dirty="0"/>
              <a:t>敵軍のみにアルゴリズム適用</a:t>
            </a:r>
            <a:endParaRPr lang="en-US" altLang="ja-JP" dirty="0"/>
          </a:p>
          <a:p>
            <a:pPr marL="0" indent="0">
              <a:buNone/>
            </a:pPr>
            <a:r>
              <a:rPr lang="ja-JP" altLang="en-US" dirty="0"/>
              <a:t>　　</a:t>
            </a:r>
            <a:r>
              <a:rPr lang="en-US" altLang="ja-JP" dirty="0"/>
              <a:t>2.</a:t>
            </a:r>
            <a:r>
              <a:rPr lang="ja-JP" altLang="en-US" dirty="0"/>
              <a:t>敵軍＋友軍にアルゴリズム適用</a:t>
            </a:r>
            <a:endParaRPr lang="en-US" altLang="ja-JP" dirty="0"/>
          </a:p>
          <a:p>
            <a:r>
              <a:rPr lang="ja-JP" altLang="en-US" dirty="0"/>
              <a:t>使用アルゴリズム</a:t>
            </a:r>
            <a:endParaRPr lang="en-US" altLang="ja-JP" dirty="0"/>
          </a:p>
          <a:p>
            <a:pPr marL="0" indent="0">
              <a:buNone/>
            </a:pPr>
            <a:r>
              <a:rPr lang="ja-JP" altLang="en-US" dirty="0"/>
              <a:t>　・既存研究、解析済みの戦術アルゴリズム</a:t>
            </a:r>
            <a:endParaRPr lang="en-US" altLang="ja-JP" dirty="0"/>
          </a:p>
          <a:p>
            <a:pPr marL="0" indent="0">
              <a:buNone/>
            </a:pPr>
            <a:endParaRPr lang="en-US" altLang="ja-JP" dirty="0"/>
          </a:p>
        </p:txBody>
      </p:sp>
    </p:spTree>
    <p:extLst>
      <p:ext uri="{BB962C8B-B14F-4D97-AF65-F5344CB8AC3E}">
        <p14:creationId xmlns:p14="http://schemas.microsoft.com/office/powerpoint/2010/main" val="1798848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60F722-E7C7-CB67-5AC6-1A2489B1D92A}"/>
              </a:ext>
            </a:extLst>
          </p:cNvPr>
          <p:cNvSpPr>
            <a:spLocks noGrp="1"/>
          </p:cNvSpPr>
          <p:nvPr>
            <p:ph type="title"/>
          </p:nvPr>
        </p:nvSpPr>
        <p:spPr/>
        <p:txBody>
          <a:bodyPr/>
          <a:lstStyle/>
          <a:p>
            <a:r>
              <a:rPr lang="ja-JP" altLang="en-US" dirty="0"/>
              <a:t>実験結果</a:t>
            </a:r>
            <a:endParaRPr kumimoji="1" lang="ja-JP" altLang="en-US" dirty="0"/>
          </a:p>
        </p:txBody>
      </p:sp>
      <p:graphicFrame>
        <p:nvGraphicFramePr>
          <p:cNvPr id="4" name="コンテンツ プレースホルダー 3">
            <a:extLst>
              <a:ext uri="{FF2B5EF4-FFF2-40B4-BE49-F238E27FC236}">
                <a16:creationId xmlns:a16="http://schemas.microsoft.com/office/drawing/2014/main" id="{C0A72B07-30A8-A4BB-EDE2-17A76F073DDC}"/>
              </a:ext>
            </a:extLst>
          </p:cNvPr>
          <p:cNvGraphicFramePr>
            <a:graphicFrameLocks noGrp="1"/>
          </p:cNvGraphicFramePr>
          <p:nvPr>
            <p:ph idx="1"/>
            <p:extLst>
              <p:ext uri="{D42A27DB-BD31-4B8C-83A1-F6EECF244321}">
                <p14:modId xmlns:p14="http://schemas.microsoft.com/office/powerpoint/2010/main" val="1104394019"/>
              </p:ext>
            </p:extLst>
          </p:nvPr>
        </p:nvGraphicFramePr>
        <p:xfrm>
          <a:off x="838200" y="1825626"/>
          <a:ext cx="10515600" cy="334227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887882819"/>
                    </a:ext>
                  </a:extLst>
                </a:gridCol>
                <a:gridCol w="5257800">
                  <a:extLst>
                    <a:ext uri="{9D8B030D-6E8A-4147-A177-3AD203B41FA5}">
                      <a16:colId xmlns:a16="http://schemas.microsoft.com/office/drawing/2014/main" val="869370467"/>
                    </a:ext>
                  </a:extLst>
                </a:gridCol>
              </a:tblGrid>
              <a:tr h="1114092">
                <a:tc>
                  <a:txBody>
                    <a:bodyPr/>
                    <a:lstStyle/>
                    <a:p>
                      <a:r>
                        <a:rPr kumimoji="1" lang="ja-JP" altLang="en-US" sz="3200" dirty="0"/>
                        <a:t>適用条件</a:t>
                      </a:r>
                      <a:endParaRPr kumimoji="1" lang="en-US" altLang="ja-JP" sz="3200" dirty="0"/>
                    </a:p>
                  </a:txBody>
                  <a:tcPr/>
                </a:tc>
                <a:tc>
                  <a:txBody>
                    <a:bodyPr/>
                    <a:lstStyle/>
                    <a:p>
                      <a:r>
                        <a:rPr kumimoji="1" lang="ja-JP" altLang="en-US" sz="3200" dirty="0"/>
                        <a:t>結果</a:t>
                      </a:r>
                    </a:p>
                  </a:txBody>
                  <a:tcPr/>
                </a:tc>
                <a:extLst>
                  <a:ext uri="{0D108BD9-81ED-4DB2-BD59-A6C34878D82A}">
                    <a16:rowId xmlns:a16="http://schemas.microsoft.com/office/drawing/2014/main" val="1485139904"/>
                  </a:ext>
                </a:extLst>
              </a:tr>
              <a:tr h="1114092">
                <a:tc>
                  <a:txBody>
                    <a:bodyPr/>
                    <a:lstStyle/>
                    <a:p>
                      <a:r>
                        <a:rPr kumimoji="1" lang="ja-JP" altLang="en-US" sz="3200" dirty="0"/>
                        <a:t>敵軍のみ</a:t>
                      </a:r>
                    </a:p>
                  </a:txBody>
                  <a:tcPr/>
                </a:tc>
                <a:tc>
                  <a:txBody>
                    <a:bodyPr/>
                    <a:lstStyle/>
                    <a:p>
                      <a:r>
                        <a:rPr kumimoji="1" lang="ja-JP" altLang="en-US" sz="3200" dirty="0"/>
                        <a:t>自軍　</a:t>
                      </a:r>
                      <a:r>
                        <a:rPr kumimoji="1" lang="en-US" altLang="ja-JP" sz="3200" dirty="0"/>
                        <a:t>67-1</a:t>
                      </a:r>
                      <a:r>
                        <a:rPr kumimoji="1" lang="ja-JP" altLang="en-US" sz="3200" dirty="0"/>
                        <a:t>　敵軍</a:t>
                      </a:r>
                    </a:p>
                  </a:txBody>
                  <a:tcPr/>
                </a:tc>
                <a:extLst>
                  <a:ext uri="{0D108BD9-81ED-4DB2-BD59-A6C34878D82A}">
                    <a16:rowId xmlns:a16="http://schemas.microsoft.com/office/drawing/2014/main" val="4146395669"/>
                  </a:ext>
                </a:extLst>
              </a:tr>
              <a:tr h="1114092">
                <a:tc>
                  <a:txBody>
                    <a:bodyPr/>
                    <a:lstStyle/>
                    <a:p>
                      <a:r>
                        <a:rPr kumimoji="1" lang="ja-JP" altLang="en-US" sz="3200" dirty="0"/>
                        <a:t>敵軍＋友軍</a:t>
                      </a:r>
                    </a:p>
                  </a:txBody>
                  <a:tcPr/>
                </a:tc>
                <a:tc>
                  <a:txBody>
                    <a:bodyPr/>
                    <a:lstStyle/>
                    <a:p>
                      <a:r>
                        <a:rPr kumimoji="1" lang="ja-JP" altLang="en-US" sz="3200" dirty="0"/>
                        <a:t>自軍　</a:t>
                      </a:r>
                      <a:r>
                        <a:rPr kumimoji="1" lang="en-US" altLang="ja-JP" sz="3200" dirty="0"/>
                        <a:t>25-39</a:t>
                      </a:r>
                      <a:r>
                        <a:rPr kumimoji="1" lang="ja-JP" altLang="en-US" sz="3200" dirty="0"/>
                        <a:t>　敵軍</a:t>
                      </a:r>
                    </a:p>
                  </a:txBody>
                  <a:tcPr/>
                </a:tc>
                <a:extLst>
                  <a:ext uri="{0D108BD9-81ED-4DB2-BD59-A6C34878D82A}">
                    <a16:rowId xmlns:a16="http://schemas.microsoft.com/office/drawing/2014/main" val="1372894619"/>
                  </a:ext>
                </a:extLst>
              </a:tr>
            </a:tbl>
          </a:graphicData>
        </a:graphic>
      </p:graphicFrame>
      <p:sp>
        <p:nvSpPr>
          <p:cNvPr id="5" name="テキスト ボックス 4">
            <a:extLst>
              <a:ext uri="{FF2B5EF4-FFF2-40B4-BE49-F238E27FC236}">
                <a16:creationId xmlns:a16="http://schemas.microsoft.com/office/drawing/2014/main" id="{7E132D5A-6846-4ACC-31AB-DDB91749B5E2}"/>
              </a:ext>
            </a:extLst>
          </p:cNvPr>
          <p:cNvSpPr txBox="1"/>
          <p:nvPr/>
        </p:nvSpPr>
        <p:spPr>
          <a:xfrm>
            <a:off x="838200" y="5506947"/>
            <a:ext cx="11013896" cy="584775"/>
          </a:xfrm>
          <a:prstGeom prst="rect">
            <a:avLst/>
          </a:prstGeom>
          <a:noFill/>
        </p:spPr>
        <p:txBody>
          <a:bodyPr wrap="square" rtlCol="0">
            <a:spAutoFit/>
          </a:bodyPr>
          <a:lstStyle/>
          <a:p>
            <a:r>
              <a:rPr kumimoji="1" lang="ja-JP" altLang="en-US" sz="3200" dirty="0"/>
              <a:t>友軍にもアルゴリズムを適用すると自軍勝率が大幅に低下</a:t>
            </a:r>
          </a:p>
        </p:txBody>
      </p:sp>
    </p:spTree>
    <p:extLst>
      <p:ext uri="{BB962C8B-B14F-4D97-AF65-F5344CB8AC3E}">
        <p14:creationId xmlns:p14="http://schemas.microsoft.com/office/powerpoint/2010/main" val="3602263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3BA159-1211-68EC-F78C-046664F7A0B3}"/>
              </a:ext>
            </a:extLst>
          </p:cNvPr>
          <p:cNvSpPr>
            <a:spLocks noGrp="1"/>
          </p:cNvSpPr>
          <p:nvPr>
            <p:ph type="title"/>
          </p:nvPr>
        </p:nvSpPr>
        <p:spPr/>
        <p:txBody>
          <a:bodyPr/>
          <a:lstStyle/>
          <a:p>
            <a:r>
              <a:rPr lang="ja-JP" altLang="en-US" dirty="0"/>
              <a:t>考察</a:t>
            </a:r>
            <a:endParaRPr kumimoji="1" lang="ja-JP" altLang="en-US" dirty="0"/>
          </a:p>
        </p:txBody>
      </p:sp>
      <p:sp>
        <p:nvSpPr>
          <p:cNvPr id="3" name="コンテンツ プレースホルダー 2">
            <a:extLst>
              <a:ext uri="{FF2B5EF4-FFF2-40B4-BE49-F238E27FC236}">
                <a16:creationId xmlns:a16="http://schemas.microsoft.com/office/drawing/2014/main" id="{B8A950F4-DFA8-5AB4-CC2B-D156F0B7BAC7}"/>
              </a:ext>
            </a:extLst>
          </p:cNvPr>
          <p:cNvSpPr>
            <a:spLocks noGrp="1"/>
          </p:cNvSpPr>
          <p:nvPr>
            <p:ph idx="1"/>
          </p:nvPr>
        </p:nvSpPr>
        <p:spPr/>
        <p:txBody>
          <a:bodyPr/>
          <a:lstStyle/>
          <a:p>
            <a:r>
              <a:rPr kumimoji="1" lang="ja-JP" altLang="en-US" dirty="0"/>
              <a:t>同じ戦術生成アルゴリズムでも敵と味方では期待される役割が異なる</a:t>
            </a:r>
            <a:endParaRPr kumimoji="1" lang="en-US" altLang="ja-JP" dirty="0"/>
          </a:p>
          <a:p>
            <a:r>
              <a:rPr lang="ja-JP" altLang="en-US" dirty="0"/>
              <a:t>味方</a:t>
            </a:r>
            <a:r>
              <a:rPr lang="en-US" altLang="ja-JP" dirty="0"/>
              <a:t>NPC</a:t>
            </a:r>
            <a:r>
              <a:rPr lang="ja-JP" altLang="en-US" dirty="0"/>
              <a:t>が最適行動をとることで</a:t>
            </a:r>
            <a:endParaRPr lang="en-US" altLang="ja-JP" dirty="0"/>
          </a:p>
          <a:p>
            <a:pPr marL="0" indent="0">
              <a:buNone/>
            </a:pPr>
            <a:r>
              <a:rPr kumimoji="1" lang="ja-JP" altLang="en-US" dirty="0"/>
              <a:t>　</a:t>
            </a:r>
            <a:r>
              <a:rPr lang="ja-JP" altLang="en-US" dirty="0"/>
              <a:t>・プレイヤーの戦略を妨害</a:t>
            </a:r>
            <a:endParaRPr lang="en-US" altLang="ja-JP" dirty="0"/>
          </a:p>
          <a:p>
            <a:pPr marL="0" indent="0">
              <a:buNone/>
            </a:pPr>
            <a:r>
              <a:rPr kumimoji="1" lang="ja-JP" altLang="en-US" dirty="0"/>
              <a:t>　・結果的に敵を有利にする場合がある</a:t>
            </a:r>
            <a:endParaRPr kumimoji="1" lang="en-US" altLang="ja-JP" dirty="0"/>
          </a:p>
          <a:p>
            <a:r>
              <a:rPr lang="ja-JP" altLang="en-US" dirty="0"/>
              <a:t>現行アルゴリズムはプレイヤー補助として機能していない</a:t>
            </a:r>
            <a:endParaRPr kumimoji="1" lang="ja-JP" altLang="en-US" dirty="0"/>
          </a:p>
        </p:txBody>
      </p:sp>
    </p:spTree>
    <p:extLst>
      <p:ext uri="{BB962C8B-B14F-4D97-AF65-F5344CB8AC3E}">
        <p14:creationId xmlns:p14="http://schemas.microsoft.com/office/powerpoint/2010/main" val="1924465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E4CD92-9C20-AF5E-6C26-97D13F24B386}"/>
              </a:ext>
            </a:extLst>
          </p:cNvPr>
          <p:cNvSpPr>
            <a:spLocks noGrp="1"/>
          </p:cNvSpPr>
          <p:nvPr>
            <p:ph type="title"/>
          </p:nvPr>
        </p:nvSpPr>
        <p:spPr/>
        <p:txBody>
          <a:bodyPr/>
          <a:lstStyle/>
          <a:p>
            <a:r>
              <a:rPr kumimoji="1" lang="ja-JP" altLang="en-US" dirty="0"/>
              <a:t>結論</a:t>
            </a:r>
          </a:p>
        </p:txBody>
      </p:sp>
      <p:sp>
        <p:nvSpPr>
          <p:cNvPr id="3" name="コンテンツ プレースホルダー 2">
            <a:extLst>
              <a:ext uri="{FF2B5EF4-FFF2-40B4-BE49-F238E27FC236}">
                <a16:creationId xmlns:a16="http://schemas.microsoft.com/office/drawing/2014/main" id="{E3579C1A-80D6-CCE9-88E4-80AD4F2342C5}"/>
              </a:ext>
            </a:extLst>
          </p:cNvPr>
          <p:cNvSpPr>
            <a:spLocks noGrp="1"/>
          </p:cNvSpPr>
          <p:nvPr>
            <p:ph idx="1"/>
          </p:nvPr>
        </p:nvSpPr>
        <p:spPr/>
        <p:txBody>
          <a:bodyPr/>
          <a:lstStyle/>
          <a:p>
            <a:pPr marL="0" indent="0">
              <a:buNone/>
            </a:pPr>
            <a:r>
              <a:rPr kumimoji="1" lang="ja-JP" altLang="en-US" dirty="0"/>
              <a:t>・既存のアルゴリズムを味方</a:t>
            </a:r>
            <a:r>
              <a:rPr kumimoji="1" lang="en-US" altLang="ja-JP" dirty="0"/>
              <a:t>NPC</a:t>
            </a:r>
            <a:r>
              <a:rPr kumimoji="1" lang="ja-JP" altLang="en-US" dirty="0"/>
              <a:t>にそのまま適用するのは</a:t>
            </a:r>
            <a:endParaRPr kumimoji="1" lang="en-US" altLang="ja-JP" dirty="0"/>
          </a:p>
          <a:p>
            <a:pPr marL="0" indent="0">
              <a:buNone/>
            </a:pPr>
            <a:r>
              <a:rPr kumimoji="1" lang="ja-JP" altLang="en-US" dirty="0"/>
              <a:t>不適切</a:t>
            </a:r>
            <a:endParaRPr kumimoji="1" lang="en-US" altLang="ja-JP" dirty="0"/>
          </a:p>
          <a:p>
            <a:pPr marL="0" indent="0">
              <a:buNone/>
            </a:pPr>
            <a:endParaRPr kumimoji="1" lang="en-US" altLang="ja-JP" dirty="0"/>
          </a:p>
          <a:p>
            <a:pPr marL="0" indent="0">
              <a:buNone/>
            </a:pPr>
            <a:r>
              <a:rPr lang="ja-JP" altLang="en-US" dirty="0"/>
              <a:t>・ランダム行動よりも勝率が低下するケースが確認された</a:t>
            </a:r>
            <a:endParaRPr lang="en-US" altLang="ja-JP" dirty="0"/>
          </a:p>
          <a:p>
            <a:pPr marL="0" indent="0">
              <a:buNone/>
            </a:pPr>
            <a:endParaRPr lang="en-US" altLang="ja-JP" dirty="0"/>
          </a:p>
          <a:p>
            <a:pPr marL="0" indent="0">
              <a:buNone/>
            </a:pPr>
            <a:r>
              <a:rPr kumimoji="1" lang="ja-JP" altLang="en-US" dirty="0"/>
              <a:t>・味方</a:t>
            </a:r>
            <a:r>
              <a:rPr kumimoji="1" lang="en-US" altLang="ja-JP" dirty="0"/>
              <a:t>NPC</a:t>
            </a:r>
            <a:r>
              <a:rPr kumimoji="1" lang="ja-JP" altLang="en-US" dirty="0"/>
              <a:t>には「強さ」より「支援性」が重要</a:t>
            </a:r>
            <a:endParaRPr kumimoji="1" lang="en-US" altLang="ja-JP" dirty="0"/>
          </a:p>
        </p:txBody>
      </p:sp>
    </p:spTree>
    <p:extLst>
      <p:ext uri="{BB962C8B-B14F-4D97-AF65-F5344CB8AC3E}">
        <p14:creationId xmlns:p14="http://schemas.microsoft.com/office/powerpoint/2010/main" val="529997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5BD53A-79C4-285D-9AE3-CAB8E2DFCBE2}"/>
              </a:ext>
            </a:extLst>
          </p:cNvPr>
          <p:cNvSpPr>
            <a:spLocks noGrp="1"/>
          </p:cNvSpPr>
          <p:nvPr>
            <p:ph type="title"/>
          </p:nvPr>
        </p:nvSpPr>
        <p:spPr/>
        <p:txBody>
          <a:bodyPr/>
          <a:lstStyle/>
          <a:p>
            <a:r>
              <a:rPr kumimoji="1" lang="ja-JP" altLang="en-US" dirty="0"/>
              <a:t>今後の</a:t>
            </a:r>
            <a:r>
              <a:rPr lang="ja-JP" altLang="en-US" dirty="0"/>
              <a:t>課題</a:t>
            </a:r>
            <a:endParaRPr kumimoji="1" lang="ja-JP" altLang="en-US" dirty="0"/>
          </a:p>
        </p:txBody>
      </p:sp>
      <p:sp>
        <p:nvSpPr>
          <p:cNvPr id="3" name="コンテンツ プレースホルダー 2">
            <a:extLst>
              <a:ext uri="{FF2B5EF4-FFF2-40B4-BE49-F238E27FC236}">
                <a16:creationId xmlns:a16="http://schemas.microsoft.com/office/drawing/2014/main" id="{5F50CAC0-5642-28B8-FEC8-470BDE32ECE9}"/>
              </a:ext>
            </a:extLst>
          </p:cNvPr>
          <p:cNvSpPr>
            <a:spLocks noGrp="1"/>
          </p:cNvSpPr>
          <p:nvPr>
            <p:ph idx="1"/>
          </p:nvPr>
        </p:nvSpPr>
        <p:spPr/>
        <p:txBody>
          <a:bodyPr/>
          <a:lstStyle/>
          <a:p>
            <a:pPr marL="0" indent="0">
              <a:buNone/>
            </a:pPr>
            <a:r>
              <a:rPr kumimoji="1" lang="ja-JP" altLang="en-US" dirty="0"/>
              <a:t>・戦術アルゴリズムとランダム行動の組み合わせを検討</a:t>
            </a:r>
            <a:endParaRPr kumimoji="1" lang="en-US" altLang="ja-JP" dirty="0"/>
          </a:p>
          <a:p>
            <a:pPr marL="0" indent="0">
              <a:buNone/>
            </a:pPr>
            <a:endParaRPr lang="en-US" altLang="ja-JP" dirty="0"/>
          </a:p>
          <a:p>
            <a:pPr marL="0" indent="0">
              <a:buNone/>
            </a:pPr>
            <a:r>
              <a:rPr lang="ja-JP" altLang="en-US" dirty="0"/>
              <a:t>・プレイヤーの意図を妨げない味方</a:t>
            </a:r>
            <a:r>
              <a:rPr lang="en-US" altLang="ja-JP" dirty="0"/>
              <a:t>NPC</a:t>
            </a:r>
            <a:r>
              <a:rPr lang="ja-JP" altLang="en-US" dirty="0"/>
              <a:t>行動の設計</a:t>
            </a:r>
            <a:endParaRPr lang="en-US" altLang="ja-JP" dirty="0"/>
          </a:p>
          <a:p>
            <a:pPr marL="0" indent="0">
              <a:buNone/>
            </a:pPr>
            <a:endParaRPr kumimoji="1" lang="en-US" altLang="ja-JP" dirty="0"/>
          </a:p>
          <a:p>
            <a:pPr marL="0" indent="0">
              <a:buNone/>
            </a:pPr>
            <a:r>
              <a:rPr lang="ja-JP" altLang="en-US" dirty="0"/>
              <a:t>・「人間らしい」「協力的な」ふるまいの実現</a:t>
            </a:r>
            <a:endParaRPr kumimoji="1" lang="ja-JP" altLang="en-US" dirty="0"/>
          </a:p>
        </p:txBody>
      </p:sp>
    </p:spTree>
    <p:extLst>
      <p:ext uri="{BB962C8B-B14F-4D97-AF65-F5344CB8AC3E}">
        <p14:creationId xmlns:p14="http://schemas.microsoft.com/office/powerpoint/2010/main" val="2880586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CE2580-4384-20A9-0A57-2335B88DE6E2}"/>
              </a:ext>
            </a:extLst>
          </p:cNvPr>
          <p:cNvSpPr>
            <a:spLocks noGrp="1"/>
          </p:cNvSpPr>
          <p:nvPr>
            <p:ph type="ctrTitle"/>
          </p:nvPr>
        </p:nvSpPr>
        <p:spPr>
          <a:xfrm>
            <a:off x="258791" y="1122363"/>
            <a:ext cx="11731925" cy="2387600"/>
          </a:xfrm>
        </p:spPr>
        <p:txBody>
          <a:bodyPr/>
          <a:lstStyle/>
          <a:p>
            <a:r>
              <a:rPr lang="ja-JP" altLang="en-US" dirty="0"/>
              <a:t>ご清聴ありがとうございました</a:t>
            </a:r>
            <a:endParaRPr kumimoji="1" lang="ja-JP" altLang="en-US" dirty="0"/>
          </a:p>
        </p:txBody>
      </p:sp>
      <p:sp>
        <p:nvSpPr>
          <p:cNvPr id="3" name="字幕 2">
            <a:extLst>
              <a:ext uri="{FF2B5EF4-FFF2-40B4-BE49-F238E27FC236}">
                <a16:creationId xmlns:a16="http://schemas.microsoft.com/office/drawing/2014/main" id="{1A072907-7F1E-E59E-F6B6-22A4D1F01B75}"/>
              </a:ext>
            </a:extLst>
          </p:cNvPr>
          <p:cNvSpPr>
            <a:spLocks noGrp="1"/>
          </p:cNvSpPr>
          <p:nvPr>
            <p:ph type="subTitle" idx="1"/>
          </p:nvPr>
        </p:nvSpPr>
        <p:spPr/>
        <p:txBody>
          <a:bodyPr/>
          <a:lstStyle/>
          <a:p>
            <a:r>
              <a:rPr kumimoji="1" lang="ja-JP" altLang="en-US" dirty="0"/>
              <a:t>可児桜将</a:t>
            </a:r>
            <a:endParaRPr kumimoji="1" lang="en-US" altLang="ja-JP" dirty="0"/>
          </a:p>
          <a:p>
            <a:r>
              <a:rPr lang="en-US" altLang="ja-JP" dirty="0"/>
              <a:t>2023TS023</a:t>
            </a:r>
            <a:endParaRPr kumimoji="1" lang="ja-JP" altLang="en-US" dirty="0"/>
          </a:p>
        </p:txBody>
      </p:sp>
    </p:spTree>
    <p:extLst>
      <p:ext uri="{BB962C8B-B14F-4D97-AF65-F5344CB8AC3E}">
        <p14:creationId xmlns:p14="http://schemas.microsoft.com/office/powerpoint/2010/main" val="328247036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881</TotalTime>
  <Words>456</Words>
  <Application>Microsoft Office PowerPoint</Application>
  <PresentationFormat>ワイド画面</PresentationFormat>
  <Paragraphs>70</Paragraphs>
  <Slides>11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宮沢研究室課題</vt:lpstr>
      <vt:lpstr>今回読んだ文献について</vt:lpstr>
      <vt:lpstr>研究背景</vt:lpstr>
      <vt:lpstr>研究目的</vt:lpstr>
      <vt:lpstr>ゲーム環境</vt:lpstr>
      <vt:lpstr>実験方法</vt:lpstr>
      <vt:lpstr>実験結果</vt:lpstr>
      <vt:lpstr>考察</vt:lpstr>
      <vt:lpstr>結論</vt:lpstr>
      <vt:lpstr>今後の課題</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23ts023</dc:creator>
  <cp:lastModifiedBy>23ts023</cp:lastModifiedBy>
  <cp:revision>17</cp:revision>
  <dcterms:created xsi:type="dcterms:W3CDTF">2025-06-15T06:10:20Z</dcterms:created>
  <dcterms:modified xsi:type="dcterms:W3CDTF">2025-12-21T07:46:30Z</dcterms:modified>
</cp:coreProperties>
</file>